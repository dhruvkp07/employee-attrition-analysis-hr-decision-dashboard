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embeddedFontLst>
    <p:embeddedFont>
      <p:font typeface="Mona Sans SemiBold"/>
      <p:regular r:id="rId201314"/>
    </p:embeddedFont>
    <p:embeddedFont>
      <p:font typeface="Mona Sans Bold"/>
      <p:regular r:id="rId201315"/>
    </p:embeddedFont>
    <p:embeddedFont>
      <p:font typeface="Funnel Sans"/>
      <p:regular r:id="rId201316"/>
    </p:embeddedFont>
    <p:embeddedFont>
      <p:font typeface="Funnel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616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7719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54562" y="366117"/>
            <a:ext cx="5063877" cy="581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Employee Attrition Analysis &amp; HR Decision Support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3754562" y="1039118"/>
            <a:ext cx="5389438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Identifying key drivers of employee attrition and delivering actionable HR recommendations through data-driven analysis.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3754562" y="1231032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852342" y="1328812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FFFF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29063" y="1405533"/>
            <a:ext cx="125537" cy="12553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852342" y="1668884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Python &amp; Pandas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852342" y="1850827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cleaning, transformation &amp; statistical analysis</a:t>
            </a:r>
            <a:endParaRPr lang="en-US" sz="700" dirty="0"/>
          </a:p>
        </p:txBody>
      </p:sp>
      <p:sp>
        <p:nvSpPr>
          <p:cNvPr id="10" name="Shape 6"/>
          <p:cNvSpPr/>
          <p:nvPr/>
        </p:nvSpPr>
        <p:spPr>
          <a:xfrm>
            <a:off x="3754562" y="2132856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852342" y="2230636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9063" y="2307357"/>
            <a:ext cx="125537" cy="12553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852342" y="2570708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SQL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852342" y="2752651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Querying &amp; aggregating workforce datasets</a:t>
            </a:r>
            <a:endParaRPr lang="en-US" sz="700" dirty="0"/>
          </a:p>
        </p:txBody>
      </p:sp>
      <p:sp>
        <p:nvSpPr>
          <p:cNvPr id="15" name="Shape 10"/>
          <p:cNvSpPr/>
          <p:nvPr/>
        </p:nvSpPr>
        <p:spPr>
          <a:xfrm>
            <a:off x="3754562" y="3034680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852342" y="3132460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9063" y="3209181"/>
            <a:ext cx="125537" cy="1255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852342" y="3472532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BI</a:t>
            </a: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3852342" y="3654475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Interactive dashboards &amp; visual storytelling</a:t>
            </a:r>
            <a:endParaRPr lang="en-US" sz="700" dirty="0"/>
          </a:p>
        </p:txBody>
      </p:sp>
      <p:sp>
        <p:nvSpPr>
          <p:cNvPr id="20" name="Shape 14"/>
          <p:cNvSpPr/>
          <p:nvPr/>
        </p:nvSpPr>
        <p:spPr>
          <a:xfrm>
            <a:off x="3754562" y="3936504"/>
            <a:ext cx="5063877" cy="840804"/>
          </a:xfrm>
          <a:prstGeom prst="roundRect">
            <a:avLst>
              <a:gd name="adj" fmla="val 4647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852342" y="4034284"/>
            <a:ext cx="279053" cy="279053"/>
          </a:xfrm>
          <a:prstGeom prst="roundRect">
            <a:avLst>
              <a:gd name="adj" fmla="val 20477933"/>
            </a:avLst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9063" y="4111005"/>
            <a:ext cx="125537" cy="125537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52342" y="4374356"/>
            <a:ext cx="1162869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1,470 Employees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3852342" y="4556299"/>
            <a:ext cx="4868317" cy="123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38 features across HR, finance &amp; performance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5041"/>
            <a:ext cx="772418" cy="197197"/>
          </a:xfrm>
          <a:prstGeom prst="roundRect">
            <a:avLst>
              <a:gd name="adj" fmla="val 18494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7210" y="362322"/>
            <a:ext cx="1089868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METHODOLOGY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5427"/>
            <a:ext cx="5828184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Business Problem &amp; Analytical Approach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336" y="2255490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Challenge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27336" y="2508052"/>
            <a:ext cx="3612207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 employee attrition increases hiring costs, reduces productivity, and destabilises workforce planning. Organisations need to understand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who is leaving, why, and when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before it becomes a systemic risk.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827336" y="3061395"/>
            <a:ext cx="3612207" cy="510332"/>
          </a:xfrm>
          <a:prstGeom prst="roundRect">
            <a:avLst>
              <a:gd name="adj" fmla="val 8933"/>
            </a:avLst>
          </a:prstGeom>
          <a:solidFill>
            <a:srgbClr val="02234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831" y="3216325"/>
            <a:ext cx="135657" cy="1084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79984" y="3163267"/>
            <a:ext cx="315106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This analysis transforms raw HR data into a strategic retention framework.</a:t>
            </a:r>
            <a:endParaRPr lang="en-US" sz="8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071" y="1112713"/>
            <a:ext cx="3612207" cy="361220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38361"/>
            <a:ext cx="1006599" cy="187672"/>
          </a:xfrm>
          <a:prstGeom prst="roundRect">
            <a:avLst>
              <a:gd name="adj" fmla="val 19433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70880"/>
            <a:ext cx="1333574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6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ATTRITION OVERVIEW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9222"/>
            <a:ext cx="370023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Scale of the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27336" y="1077292"/>
            <a:ext cx="2427163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1,470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62521" y="155198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Total Employees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7336" y="1771352"/>
            <a:ext cx="2427163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 the analysed workforce dataset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358307" y="1077292"/>
            <a:ext cx="2427238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237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893567" y="155198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Employees Left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358307" y="1771352"/>
            <a:ext cx="242723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Recorded attritions in the period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889352" y="1077292"/>
            <a:ext cx="2427238" cy="358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8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16.1%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24613" y="1551980"/>
            <a:ext cx="13567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Attrition Rate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889352" y="1771352"/>
            <a:ext cx="2427238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Approximately 1 in 6 employees exits</a:t>
            </a:r>
            <a:endParaRPr lang="en-US" sz="8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336" y="2111573"/>
            <a:ext cx="3612207" cy="2600027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709071" y="2101155"/>
            <a:ext cx="1813917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709071" y="2353717"/>
            <a:ext cx="3612207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 a 16.12% attrition rate, the organisation is losing a significant portion of its workforce each cycle. Replacing these employees carries direct costs — recruitment, onboarding, and lost productivity — making retention a clear business priority.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43198"/>
            <a:ext cx="1078260" cy="232842"/>
          </a:xfrm>
          <a:prstGeom prst="roundRect">
            <a:avLst>
              <a:gd name="adj" fmla="val 17900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3308" y="385167"/>
            <a:ext cx="1377107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ATTRITION DRIVERS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19423"/>
            <a:ext cx="674757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The Three Strongest Predictors of Attrition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291754"/>
            <a:ext cx="3986585" cy="2869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278210"/>
            <a:ext cx="217497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What the Data Reveals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13759" y="1594098"/>
            <a:ext cx="4000872" cy="9557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09170" y="1732359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⏱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Overtime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909170" y="2039466"/>
            <a:ext cx="366719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Employees working overtime have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3× higher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attrition (30.53% vs 10.44%).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13759" y="2658294"/>
            <a:ext cx="4000872" cy="9557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09170" y="2796555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💰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Salary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09170" y="3103662"/>
            <a:ext cx="366719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Employees earning below $5K face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21.76%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attrition vs just 3.76% for those above $15K.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13759" y="3722489"/>
            <a:ext cx="4000872" cy="9557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09170" y="3860750"/>
            <a:ext cx="1550566" cy="1986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🎂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Age 18–25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09170" y="4167857"/>
            <a:ext cx="3667199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Younger employees show the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highest exit rate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at 35.77% — nearly 1 in 3.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28253"/>
            <a:ext cx="1276648" cy="266402"/>
          </a:xfrm>
          <a:prstGeom prst="roundRect">
            <a:avLst>
              <a:gd name="adj" fmla="val 17880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70743"/>
            <a:ext cx="15637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RISK SEGMENTATION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1359"/>
            <a:ext cx="526129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High-Risk Employee Profiles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496119" y="140694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Combining multiple risk factors reveals critical segments where attrition is most concentrated.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96119" y="1793230"/>
            <a:ext cx="2622724" cy="1823442"/>
          </a:xfrm>
          <a:prstGeom prst="roundRect">
            <a:avLst>
              <a:gd name="adj" fmla="val 326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2640" y="193975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Highest Risk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2640" y="2251025"/>
            <a:ext cx="2329681" cy="10773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Rep + Overtime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Attrition: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66.67%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2 in 3 employees in this segment leave.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1793230"/>
            <a:ext cx="2622724" cy="1823442"/>
          </a:xfrm>
          <a:prstGeom prst="roundRect">
            <a:avLst>
              <a:gd name="adj" fmla="val 326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07122" y="1939751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Very High Risk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07122" y="2251025"/>
            <a:ext cx="2329681" cy="8505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Overtime + Salary &lt;$5K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Attrition: </a:t>
            </a:r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42.93%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Nearly half of this group exits.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793230"/>
            <a:ext cx="2622724" cy="1823442"/>
          </a:xfrm>
          <a:prstGeom prst="roundRect">
            <a:avLst>
              <a:gd name="adj" fmla="val 3265"/>
            </a:avLst>
          </a:prstGeom>
          <a:solidFill>
            <a:srgbClr val="404040"/>
          </a:solidFill>
          <a:ln w="4763">
            <a:solidFill>
              <a:srgbClr val="5959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1605" y="1939751"/>
            <a:ext cx="1781249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 Composite Profile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171605" y="2251025"/>
            <a:ext cx="2329681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Age 18–25 · Sales Rep · Overtime · Salary &lt;$5K · Single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convergence of all five factors defines the most vulnerable employee.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6119" y="3776142"/>
            <a:ext cx="8151763" cy="779562"/>
          </a:xfrm>
          <a:prstGeom prst="roundRect">
            <a:avLst>
              <a:gd name="adj" fmla="val 7638"/>
            </a:avLst>
          </a:prstGeom>
          <a:solidFill>
            <a:srgbClr val="4B3F02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976911"/>
            <a:ext cx="177180" cy="141759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956816" y="3939108"/>
            <a:ext cx="754930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Priority Action: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Sales Representatives working overtime on lower salaries represent the single highest-risk cohort and should be the first target for retention intervention.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51532"/>
            <a:ext cx="1252835" cy="232842"/>
          </a:xfrm>
          <a:prstGeom prst="roundRect">
            <a:avLst>
              <a:gd name="adj" fmla="val 17900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3308" y="393502"/>
            <a:ext cx="1551682" cy="148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EMPLOYEE EXPERIENCE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27757"/>
            <a:ext cx="755444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Work-Life Balance &amp; Satisfaction Drive Attrition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132" y="1300088"/>
            <a:ext cx="3986585" cy="28695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28046" y="128654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Beyond Pay &amp; Hours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28046" y="1588889"/>
            <a:ext cx="3986585" cy="55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Employee experience factors are significant independent predictors of attrition. Employees who rate work-life balance poorly are nearly </a:t>
            </a:r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3× more likely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leave than satisfied counterparts.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0640" y="4419823"/>
            <a:ext cx="186035" cy="18603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37158" y="4413721"/>
            <a:ext cx="2265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Work-Life Balance: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Lowest-rated employees show 31.25% attrition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4413" y="4419823"/>
            <a:ext cx="186035" cy="186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640931" y="4413721"/>
            <a:ext cx="2265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Job Satisfaction: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Dissatisfied employees exit at 22.84%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88187" y="4419823"/>
            <a:ext cx="186035" cy="186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44704" y="4413721"/>
            <a:ext cx="2265090" cy="372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Marital Status:</a:t>
            </a:r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Single employees show 25.53% attrition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322808"/>
            <a:ext cx="734690" cy="207690"/>
          </a:xfrm>
          <a:prstGeom prst="roundRect">
            <a:avLst>
              <a:gd name="adj" fmla="val 18993"/>
            </a:avLst>
          </a:prstGeom>
          <a:solidFill>
            <a:srgbClr val="262626"/>
          </a:solidFill>
          <a:ln/>
        </p:spPr>
      </p:sp>
      <p:sp>
        <p:nvSpPr>
          <p:cNvPr id="3" name="Text 1"/>
          <p:cNvSpPr/>
          <p:nvPr/>
        </p:nvSpPr>
        <p:spPr>
          <a:xfrm>
            <a:off x="592038" y="358006"/>
            <a:ext cx="1051099" cy="1372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7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DELIVERABLE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569342"/>
            <a:ext cx="4859610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Power BI Dashboard Showcase</a:t>
            </a:r>
            <a:endParaRPr lang="en-US" sz="2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1488430"/>
            <a:ext cx="5165154" cy="29268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77905" y="1179165"/>
            <a:ext cx="2139404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Dashboard Capabilities</a:t>
            </a:r>
            <a:endParaRPr lang="en-US" sz="11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7905" y="1471910"/>
            <a:ext cx="234776" cy="2347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334199" y="1512243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Executive Overview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334199" y="1792858"/>
            <a:ext cx="229277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High-level KPIs and attrition trends for leadership review.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7905" y="2330648"/>
            <a:ext cx="234776" cy="2347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334199" y="2370981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Interactive Filtering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6334199" y="2651596"/>
            <a:ext cx="229277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Drill down by department, role, age, salary, and tenure.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7905" y="3189387"/>
            <a:ext cx="234776" cy="2347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334199" y="3229719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Risk Identification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6334199" y="3510335"/>
            <a:ext cx="229277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Highlights high-risk segments for proactive HR intervention.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7905" y="4048125"/>
            <a:ext cx="234776" cy="23477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334199" y="4088457"/>
            <a:ext cx="1467445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Attrition Drivers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6334199" y="4369073"/>
            <a:ext cx="2292772" cy="3433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Visual breakdown of the strongest predictors of employee exit.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12924"/>
            <a:ext cx="827261" cy="248543"/>
          </a:xfrm>
          <a:prstGeom prst="roundRect">
            <a:avLst>
              <a:gd name="adj" fmla="val 17668"/>
            </a:avLst>
          </a:prstGeom>
          <a:noFill/>
          <a:ln w="4763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0469" y="456828"/>
            <a:ext cx="111822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709613"/>
            <a:ext cx="7118821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DDDDDD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Recommendations &amp; Strategic Next Steps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457349" y="1298674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349" y="1506513"/>
            <a:ext cx="2662758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349" y="1600423"/>
            <a:ext cx="2187625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Reduce Excessive Overtime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57349" y="1876797"/>
            <a:ext cx="2662758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Redistribute workload and enforce capacity planning to lower the 30.53% attrition rate among overtime employees.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40584" y="1298674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0584" y="1506513"/>
            <a:ext cx="2662758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240584" y="1600423"/>
            <a:ext cx="215592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Review Lower Salary Bands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0584" y="1876797"/>
            <a:ext cx="266275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Conduct a pay equity review — employees below $5K are 5× more likely to leave.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23818" y="1298674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23818" y="1506513"/>
            <a:ext cx="2662758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023818" y="1600423"/>
            <a:ext cx="241927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Target Retention at Ages 18–25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023818" y="1876797"/>
            <a:ext cx="2662758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Introduce career development pathways and mentorship programmes for younger employees.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349" y="2697807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349" y="2905646"/>
            <a:ext cx="4054376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349" y="2999556"/>
            <a:ext cx="2125117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Improve Work-Life Balance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57349" y="3275930"/>
            <a:ext cx="405437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Implement flexible working policies and monitor wellbeing scores proactively.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32201" y="2697807"/>
            <a:ext cx="261342" cy="1633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Mona Sans Light" pitchFamily="34" charset="0"/>
                <a:ea typeface="Mona Sans Light" pitchFamily="34" charset="-122"/>
                <a:cs typeface="Mona Sans Light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32201" y="2905646"/>
            <a:ext cx="4054376" cy="142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32201" y="2999556"/>
            <a:ext cx="1904554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8F8F8F"/>
                </a:solidFill>
                <a:latin typeface="Mona Sans SemiBold" pitchFamily="34" charset="0"/>
                <a:ea typeface="Mona Sans SemiBold" pitchFamily="34" charset="-122"/>
                <a:cs typeface="Mona Sans SemiBold" pitchFamily="34" charset="-120"/>
              </a:rPr>
              <a:t>Monitor High-Risk Roles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32201" y="3275930"/>
            <a:ext cx="4054376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8F8F8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Representatives on overtime with lower salaries require immediate HR attention.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349" y="3911129"/>
            <a:ext cx="8229302" cy="683865"/>
          </a:xfrm>
          <a:prstGeom prst="roundRect">
            <a:avLst>
              <a:gd name="adj" fmla="val 8027"/>
            </a:avLst>
          </a:prstGeom>
          <a:solidFill>
            <a:srgbClr val="183A13"/>
          </a:solidFill>
          <a:ln/>
        </p:spPr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020" y="4098206"/>
            <a:ext cx="163339" cy="130671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82030" y="4052218"/>
            <a:ext cx="767395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Bottom Line: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Overtime, salary, age, and job role are the primary drivers of attrition. Targeted retention strategies can significantly improve workforce stability and reduce turnover costs.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2026-06-11T10:13:43Z</dcterms:created>
  <dcterms:modified xsi:type="dcterms:W3CDTF">2026-06-11T10:13:43Z</dcterms:modified>
</cp:coreProperties>
</file>